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048aebf-b5a4-fec6-fb4e-aafc723fd1b1}">
          <p14:sldIdLst>
            <p14:sldId id="256"/>
          </p14:sldIdLst>
        </p14:section>
        <p14:section name="Overview" id="{079fe7b7-5eb6-9ad5-1f30-1a7b85fdefb1}">
          <p14:sldIdLst>
            <p14:sldId id="257"/>
            <p14:sldId id="258"/>
          </p14:sldIdLst>
        </p14:section>
        <p14:section name="Implementation" id="{7248e371-9ceb-7620-16af-2ad0ce811cec}">
          <p14:sldIdLst>
            <p14:sldId id="259"/>
            <p14:sldId id="260"/>
            <p14:sldId id="261"/>
            <p14:sldId id="262"/>
          </p14:sldIdLst>
        </p14:section>
        <p14:section name="Closing" id="{a345f1e0-2322-b1fe-1806-dab1e8bc9da6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title, team members, class and guide. Mention that this is a Python mini project that measures typing speed and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a typing speed test: the user types a given passage while the program measures speed (WPM), accuracy and time taken. Regular use helps improve typing skills.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problem clearly, then walk through the four objectives: speed, accuracy, simple interface, regular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is the base. The time module tracks duration. String processing and basic calculations give WPM and accuracy. Tkinter is optional and only used if the project has a GUI.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features top to bottom. The dashboard values are examples only, not measured results. Retry is mentioned only if it is implemented in your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arrows: 1 to 6. WPM uses the standard convention of 5 characters per word. Accuracy is the share of typed characters that match the passage. Always guard against empty input and zero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code top to bottom: record start, capture input, record end, compute elapsed time, then WPM and accuracy. The output shown is an example only; replace it with your own real run if you want to show actual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what the project demonstrates, mention two or three future improvements,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777240"/>
            <a:ext cx="46634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011680"/>
            <a:ext cx="46634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Typing Speed Test Application  |  Python Programming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7772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Typing Speed Test Application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A Python-Based Mini Project</a:t>
            </a:r>
            <a:endParaRPr lang="en-US" sz="1800" dirty="0"/>
          </a:p>
        </p:txBody>
      </p:sp>
      <p:sp>
        <p:nvSpPr>
          <p:cNvPr id="4" name="Team info"/>
          <p:cNvSpPr txBox="1"/>
          <p:nvPr/>
        </p:nvSpPr>
        <p:spPr>
          <a:xfrm>
            <a:off x="457200" y="274320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Presented by: </a:t>
            </a:r>
            <a:r>
              <a:rPr lang="en-US" sz="1400" dirty="0">
                <a:solidFill>
                  <a:schemeClr val="bg1"/>
                </a:solidFill>
              </a:rPr>
              <a:t>Darshan Jadav (12402080601024)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Class/Branch: </a:t>
            </a:r>
            <a:r>
              <a:rPr lang="en-US" sz="1400" dirty="0">
                <a:solidFill>
                  <a:schemeClr val="bg1"/>
                </a:solidFill>
              </a:rPr>
              <a:t>IT - 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Subject: </a:t>
            </a:r>
            <a:r>
              <a:rPr lang="en-US" sz="1400" dirty="0">
                <a:solidFill>
                  <a:schemeClr val="bg1"/>
                </a:solidFill>
              </a:rPr>
              <a:t>Python Programming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Guided by: </a:t>
            </a:r>
            <a:r>
              <a:rPr lang="en-US" sz="1400" dirty="0">
                <a:solidFill>
                  <a:schemeClr val="bg1"/>
                </a:solidFill>
              </a:rPr>
              <a:t>Nayan Mali</a:t>
            </a:r>
            <a:endParaRPr lang="en-US" sz="1400" dirty="0"/>
          </a:p>
        </p:txBody>
      </p:sp>
      <p:sp>
        <p:nvSpPr>
          <p:cNvPr id="5" name="Laptop bezel"/>
          <p:cNvSpPr/>
          <p:nvPr/>
        </p:nvSpPr>
        <p:spPr>
          <a:xfrm>
            <a:off x="5212080" y="822960"/>
            <a:ext cx="347472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Laptop screen"/>
          <p:cNvSpPr/>
          <p:nvPr/>
        </p:nvSpPr>
        <p:spPr>
          <a:xfrm>
            <a:off x="5349240" y="960120"/>
            <a:ext cx="3200400" cy="20116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32120" y="1069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Typing Speed Test</a:t>
            </a:r>
            <a:endParaRPr lang="en-US" sz="1100" dirty="0"/>
          </a:p>
        </p:txBody>
      </p:sp>
      <p:sp>
        <p:nvSpPr>
          <p:cNvPr id="8" name="Timer pill"/>
          <p:cNvSpPr/>
          <p:nvPr/>
        </p:nvSpPr>
        <p:spPr>
          <a:xfrm>
            <a:off x="7498080" y="1069848"/>
            <a:ext cx="914400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0" y="10698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00:30</a:t>
            </a:r>
            <a:endParaRPr lang="en-US" sz="1100" dirty="0"/>
          </a:p>
        </p:txBody>
      </p:sp>
      <p:sp>
        <p:nvSpPr>
          <p:cNvPr id="10" name="Sample text box"/>
          <p:cNvSpPr/>
          <p:nvPr/>
        </p:nvSpPr>
        <p:spPr>
          <a:xfrm>
            <a:off x="5532120" y="1463040"/>
            <a:ext cx="2834640" cy="77724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23560" y="15087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The quick brown fo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x jumps over the lazy dog.</a:t>
            </a:r>
            <a:endParaRPr lang="en-US" sz="1200" dirty="0"/>
          </a:p>
        </p:txBody>
      </p:sp>
      <p:sp>
        <p:nvSpPr>
          <p:cNvPr id="12" name="Input box"/>
          <p:cNvSpPr/>
          <p:nvPr/>
        </p:nvSpPr>
        <p:spPr>
          <a:xfrm>
            <a:off x="5532120" y="2423160"/>
            <a:ext cx="2834640" cy="36576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23560" y="2423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The quick brown fo|</a:t>
            </a:r>
            <a:endParaRPr lang="en-US" sz="1100" dirty="0"/>
          </a:p>
        </p:txBody>
      </p:sp>
      <p:sp>
        <p:nvSpPr>
          <p:cNvPr id="14" name="Keyboard base"/>
          <p:cNvSpPr/>
          <p:nvPr/>
        </p:nvSpPr>
        <p:spPr>
          <a:xfrm>
            <a:off x="4846320" y="3200400"/>
            <a:ext cx="420624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Key"/>
          <p:cNvSpPr/>
          <p:nvPr/>
        </p:nvSpPr>
        <p:spPr>
          <a:xfrm>
            <a:off x="5148072" y="333756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16" name="Key"/>
          <p:cNvSpPr/>
          <p:nvPr/>
        </p:nvSpPr>
        <p:spPr>
          <a:xfrm>
            <a:off x="5513832" y="333756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17" name="Key"/>
          <p:cNvSpPr/>
          <p:nvPr/>
        </p:nvSpPr>
        <p:spPr>
          <a:xfrm>
            <a:off x="5879592" y="333756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18" name="Key"/>
          <p:cNvSpPr/>
          <p:nvPr/>
        </p:nvSpPr>
        <p:spPr>
          <a:xfrm>
            <a:off x="6245352" y="333756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19" name="Key"/>
          <p:cNvSpPr/>
          <p:nvPr/>
        </p:nvSpPr>
        <p:spPr>
          <a:xfrm>
            <a:off x="6611112" y="333756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20" name="Key"/>
          <p:cNvSpPr/>
          <p:nvPr/>
        </p:nvSpPr>
        <p:spPr>
          <a:xfrm>
            <a:off x="6976872" y="333756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21" name="Key"/>
          <p:cNvSpPr/>
          <p:nvPr/>
        </p:nvSpPr>
        <p:spPr>
          <a:xfrm>
            <a:off x="7342632" y="333756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22" name="Key"/>
          <p:cNvSpPr/>
          <p:nvPr/>
        </p:nvSpPr>
        <p:spPr>
          <a:xfrm>
            <a:off x="7708392" y="333756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23" name="Key"/>
          <p:cNvSpPr/>
          <p:nvPr/>
        </p:nvSpPr>
        <p:spPr>
          <a:xfrm>
            <a:off x="8074152" y="333756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24" name="Key"/>
          <p:cNvSpPr/>
          <p:nvPr/>
        </p:nvSpPr>
        <p:spPr>
          <a:xfrm>
            <a:off x="8439912" y="333756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25" name="Key"/>
          <p:cNvSpPr/>
          <p:nvPr/>
        </p:nvSpPr>
        <p:spPr>
          <a:xfrm>
            <a:off x="5148072" y="361188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26" name="Key"/>
          <p:cNvSpPr/>
          <p:nvPr/>
        </p:nvSpPr>
        <p:spPr>
          <a:xfrm>
            <a:off x="5513832" y="361188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27" name="Key"/>
          <p:cNvSpPr/>
          <p:nvPr/>
        </p:nvSpPr>
        <p:spPr>
          <a:xfrm>
            <a:off x="5879592" y="361188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28" name="Key"/>
          <p:cNvSpPr/>
          <p:nvPr/>
        </p:nvSpPr>
        <p:spPr>
          <a:xfrm>
            <a:off x="6245352" y="361188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</p:sp>
      <p:sp>
        <p:nvSpPr>
          <p:cNvPr id="29" name="Key"/>
          <p:cNvSpPr/>
          <p:nvPr/>
        </p:nvSpPr>
        <p:spPr>
          <a:xfrm>
            <a:off x="6611112" y="361188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30" name="Key"/>
          <p:cNvSpPr/>
          <p:nvPr/>
        </p:nvSpPr>
        <p:spPr>
          <a:xfrm>
            <a:off x="6976872" y="361188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31" name="Key"/>
          <p:cNvSpPr/>
          <p:nvPr/>
        </p:nvSpPr>
        <p:spPr>
          <a:xfrm>
            <a:off x="7342632" y="361188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</p:sp>
      <p:sp>
        <p:nvSpPr>
          <p:cNvPr id="32" name="Key"/>
          <p:cNvSpPr/>
          <p:nvPr/>
        </p:nvSpPr>
        <p:spPr>
          <a:xfrm>
            <a:off x="7708392" y="361188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33" name="Key"/>
          <p:cNvSpPr/>
          <p:nvPr/>
        </p:nvSpPr>
        <p:spPr>
          <a:xfrm>
            <a:off x="8074152" y="361188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34" name="Key"/>
          <p:cNvSpPr/>
          <p:nvPr/>
        </p:nvSpPr>
        <p:spPr>
          <a:xfrm>
            <a:off x="8439912" y="361188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35" name="Key"/>
          <p:cNvSpPr/>
          <p:nvPr/>
        </p:nvSpPr>
        <p:spPr>
          <a:xfrm>
            <a:off x="5148072" y="388620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36" name="Key"/>
          <p:cNvSpPr/>
          <p:nvPr/>
        </p:nvSpPr>
        <p:spPr>
          <a:xfrm>
            <a:off x="5513832" y="388620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37" name="Key"/>
          <p:cNvSpPr/>
          <p:nvPr/>
        </p:nvSpPr>
        <p:spPr>
          <a:xfrm>
            <a:off x="5879592" y="388620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38" name="Key"/>
          <p:cNvSpPr/>
          <p:nvPr/>
        </p:nvSpPr>
        <p:spPr>
          <a:xfrm>
            <a:off x="6245352" y="388620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39" name="Key"/>
          <p:cNvSpPr/>
          <p:nvPr/>
        </p:nvSpPr>
        <p:spPr>
          <a:xfrm>
            <a:off x="6611112" y="388620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40" name="Key"/>
          <p:cNvSpPr/>
          <p:nvPr/>
        </p:nvSpPr>
        <p:spPr>
          <a:xfrm>
            <a:off x="6976872" y="388620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41" name="Key"/>
          <p:cNvSpPr/>
          <p:nvPr/>
        </p:nvSpPr>
        <p:spPr>
          <a:xfrm>
            <a:off x="7342632" y="388620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42" name="Key"/>
          <p:cNvSpPr/>
          <p:nvPr/>
        </p:nvSpPr>
        <p:spPr>
          <a:xfrm>
            <a:off x="7708392" y="388620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43" name="Key"/>
          <p:cNvSpPr/>
          <p:nvPr/>
        </p:nvSpPr>
        <p:spPr>
          <a:xfrm>
            <a:off x="8074152" y="388620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44" name="Key"/>
          <p:cNvSpPr/>
          <p:nvPr/>
        </p:nvSpPr>
        <p:spPr>
          <a:xfrm>
            <a:off x="8439912" y="3886200"/>
            <a:ext cx="310896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45" name="Space bar"/>
          <p:cNvSpPr/>
          <p:nvPr/>
        </p:nvSpPr>
        <p:spPr>
          <a:xfrm>
            <a:off x="5943600" y="4160520"/>
            <a:ext cx="2011680" cy="21945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Introduction</a:t>
            </a:r>
            <a:endParaRPr lang="en-US" sz="3000" dirty="0"/>
          </a:p>
        </p:txBody>
      </p:sp>
      <p:sp>
        <p:nvSpPr>
          <p:cNvPr id="3" name="Intro sentence"/>
          <p:cNvSpPr txBox="1"/>
          <p:nvPr/>
        </p:nvSpPr>
        <p:spPr>
          <a:xfrm>
            <a:off x="457200" y="10972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typing speed test application measures how fast and how accurately a user types a given text.</a:t>
            </a:r>
            <a:endParaRPr lang="en-US" sz="1500" dirty="0"/>
          </a:p>
        </p:txBody>
      </p:sp>
      <p:sp>
        <p:nvSpPr>
          <p:cNvPr id="4" name="Icon tach circle"/>
          <p:cNvSpPr/>
          <p:nvPr/>
        </p:nvSpPr>
        <p:spPr>
          <a:xfrm>
            <a:off x="457200" y="203911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con tach" descr="Icon ta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15341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201168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Measures typing speed in Words Per Minute (WPM)</a:t>
            </a:r>
            <a:endParaRPr lang="en-US" sz="1400" dirty="0"/>
          </a:p>
        </p:txBody>
      </p:sp>
      <p:sp>
        <p:nvSpPr>
          <p:cNvPr id="7" name="Icon bull circle"/>
          <p:cNvSpPr/>
          <p:nvPr/>
        </p:nvSpPr>
        <p:spPr>
          <a:xfrm>
            <a:off x="457200" y="267919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8" name="Icon bull" descr="Icon bu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93492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265176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Evaluates typing accuracy</a:t>
            </a:r>
            <a:endParaRPr lang="en-US" sz="1400" dirty="0"/>
          </a:p>
        </p:txBody>
      </p:sp>
      <p:sp>
        <p:nvSpPr>
          <p:cNvPr id="10" name="Icon stop circle"/>
          <p:cNvSpPr/>
          <p:nvPr/>
        </p:nvSpPr>
        <p:spPr>
          <a:xfrm>
            <a:off x="457200" y="331927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con stop" descr="Icon sto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33572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329184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Displays the time taken to type a given text</a:t>
            </a:r>
            <a:endParaRPr lang="en-US" sz="1400" dirty="0"/>
          </a:p>
        </p:txBody>
      </p:sp>
      <p:sp>
        <p:nvSpPr>
          <p:cNvPr id="13" name="Icon line circle"/>
          <p:cNvSpPr/>
          <p:nvPr/>
        </p:nvSpPr>
        <p:spPr>
          <a:xfrm>
            <a:off x="457200" y="39593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4" name="Icon line" descr="Icon 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73652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93192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Helps users improve typing skills through practice</a:t>
            </a:r>
            <a:endParaRPr lang="en-US" sz="1400" dirty="0"/>
          </a:p>
        </p:txBody>
      </p:sp>
      <p:sp>
        <p:nvSpPr>
          <p:cNvPr id="16" name="Mockup window"/>
          <p:cNvSpPr/>
          <p:nvPr/>
        </p:nvSpPr>
        <p:spPr>
          <a:xfrm>
            <a:off x="4937760" y="1188720"/>
            <a:ext cx="3749040" cy="3246120"/>
          </a:xfrm>
          <a:prstGeom prst="roundRect">
            <a:avLst>
              <a:gd name="adj" fmla="val 338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17" name="Window dot"/>
          <p:cNvSpPr/>
          <p:nvPr/>
        </p:nvSpPr>
        <p:spPr>
          <a:xfrm>
            <a:off x="5120640" y="137160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Window dot"/>
          <p:cNvSpPr/>
          <p:nvPr/>
        </p:nvSpPr>
        <p:spPr>
          <a:xfrm>
            <a:off x="5285232" y="1371600"/>
            <a:ext cx="109728" cy="10972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9" name="Window dot"/>
          <p:cNvSpPr/>
          <p:nvPr/>
        </p:nvSpPr>
        <p:spPr>
          <a:xfrm>
            <a:off x="5449824" y="1371600"/>
            <a:ext cx="109728" cy="109728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669280" y="12984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Typing Speed Test</a:t>
            </a:r>
            <a:endParaRPr lang="en-US" sz="1100" dirty="0"/>
          </a:p>
        </p:txBody>
      </p:sp>
      <p:sp>
        <p:nvSpPr>
          <p:cNvPr id="21" name="Timer pill"/>
          <p:cNvSpPr/>
          <p:nvPr/>
        </p:nvSpPr>
        <p:spPr>
          <a:xfrm>
            <a:off x="7498080" y="1298448"/>
            <a:ext cx="1005840" cy="274320"/>
          </a:xfrm>
          <a:prstGeom prst="roundRect">
            <a:avLst>
              <a:gd name="adj" fmla="val 23333"/>
            </a:avLst>
          </a:prstGeom>
          <a:solidFill>
            <a:schemeClr val="accent1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7498080" y="1298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00:30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120640" y="1783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Type this text:</a:t>
            </a:r>
            <a:endParaRPr lang="en-US" sz="1100" dirty="0"/>
          </a:p>
        </p:txBody>
      </p:sp>
      <p:sp>
        <p:nvSpPr>
          <p:cNvPr id="24" name="Sample text box"/>
          <p:cNvSpPr/>
          <p:nvPr/>
        </p:nvSpPr>
        <p:spPr>
          <a:xfrm>
            <a:off x="5120640" y="2057400"/>
            <a:ext cx="3383280" cy="91440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5230368" y="2103120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The quick brown fo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x jumps over the lazy dog.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120640" y="31272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Your input:</a:t>
            </a:r>
            <a:endParaRPr lang="en-US" sz="1100" dirty="0"/>
          </a:p>
        </p:txBody>
      </p:sp>
      <p:sp>
        <p:nvSpPr>
          <p:cNvPr id="27" name="Input box"/>
          <p:cNvSpPr/>
          <p:nvPr/>
        </p:nvSpPr>
        <p:spPr>
          <a:xfrm>
            <a:off x="5120640" y="3383280"/>
            <a:ext cx="3383280" cy="411480"/>
          </a:xfrm>
          <a:prstGeom prst="roundRect">
            <a:avLst>
              <a:gd name="adj" fmla="val 15556"/>
            </a:avLst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30368" y="338328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The quick brown fo|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5120640" y="39319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Press Enter when finished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4937760" y="44988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Illustrative interface mockup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Problem Statement and Objectives</a:t>
            </a:r>
            <a:endParaRPr lang="en-US" sz="3000" dirty="0"/>
          </a:p>
        </p:txBody>
      </p:sp>
      <p:sp>
        <p:nvSpPr>
          <p:cNvPr id="3" name="Problem banner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4" name="Problem icon circle"/>
          <p:cNvSpPr/>
          <p:nvPr/>
        </p:nvSpPr>
        <p:spPr>
          <a:xfrm>
            <a:off x="658368" y="1252728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Problem icon" descr="Proble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380744"/>
            <a:ext cx="256032" cy="256032"/>
          </a:xfrm>
          <a:prstGeom prst="rect">
            <a:avLst/>
          </a:prstGeom>
        </p:spPr>
      </p:pic>
      <p:sp>
        <p:nvSpPr>
          <p:cNvPr id="6" name="Problem statement"/>
          <p:cNvSpPr txBox="1"/>
          <p:nvPr/>
        </p:nvSpPr>
        <p:spPr>
          <a:xfrm>
            <a:off x="1371600" y="11430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PROBLEM STATEMENT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Users need a simple way to measure and improve their typing speed and accuracy.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Objectives</a:t>
            </a:r>
            <a:endParaRPr lang="en-US" sz="1800" dirty="0"/>
          </a:p>
        </p:txBody>
      </p:sp>
      <p:sp>
        <p:nvSpPr>
          <p:cNvPr id="8" name="Objective card 1"/>
          <p:cNvSpPr/>
          <p:nvPr/>
        </p:nvSpPr>
        <p:spPr>
          <a:xfrm>
            <a:off x="457200" y="2468880"/>
            <a:ext cx="1920240" cy="2057400"/>
          </a:xfrm>
          <a:prstGeom prst="roundRect">
            <a:avLst>
              <a:gd name="adj" fmla="val 476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9" name="Objective icon 1 circle"/>
          <p:cNvSpPr/>
          <p:nvPr/>
        </p:nvSpPr>
        <p:spPr>
          <a:xfrm>
            <a:off x="621792" y="26517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Objective icon 1" descr="Objective icon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82" y="280035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69748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01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21792" y="338328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Calculate typing speed in WPM</a:t>
            </a:r>
            <a:endParaRPr lang="en-US" sz="1400" dirty="0"/>
          </a:p>
        </p:txBody>
      </p:sp>
      <p:sp>
        <p:nvSpPr>
          <p:cNvPr id="13" name="Objective card 2"/>
          <p:cNvSpPr/>
          <p:nvPr/>
        </p:nvSpPr>
        <p:spPr>
          <a:xfrm>
            <a:off x="2560320" y="2468880"/>
            <a:ext cx="1920240" cy="2057400"/>
          </a:xfrm>
          <a:prstGeom prst="roundRect">
            <a:avLst>
              <a:gd name="adj" fmla="val 476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14" name="Objective icon 2 circle"/>
          <p:cNvSpPr/>
          <p:nvPr/>
        </p:nvSpPr>
        <p:spPr>
          <a:xfrm>
            <a:off x="2724912" y="26517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Objective icon 2" descr="Objective icon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502" y="280035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57600" y="269748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02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2724912" y="338328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Measure typing accuracy</a:t>
            </a:r>
            <a:endParaRPr lang="en-US" sz="1400" dirty="0"/>
          </a:p>
        </p:txBody>
      </p:sp>
      <p:sp>
        <p:nvSpPr>
          <p:cNvPr id="18" name="Objective card 3"/>
          <p:cNvSpPr/>
          <p:nvPr/>
        </p:nvSpPr>
        <p:spPr>
          <a:xfrm>
            <a:off x="4663440" y="2468880"/>
            <a:ext cx="1920240" cy="2057400"/>
          </a:xfrm>
          <a:prstGeom prst="roundRect">
            <a:avLst>
              <a:gd name="adj" fmla="val 476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19" name="Objective icon 3 circle"/>
          <p:cNvSpPr/>
          <p:nvPr/>
        </p:nvSpPr>
        <p:spPr>
          <a:xfrm>
            <a:off x="4828032" y="26517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Objective icon 3" descr="Objective icon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6622" y="280035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60720" y="269748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4828032" y="338328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Provide a simple and user-friendly interface</a:t>
            </a:r>
            <a:endParaRPr lang="en-US" sz="1400" dirty="0"/>
          </a:p>
        </p:txBody>
      </p:sp>
      <p:sp>
        <p:nvSpPr>
          <p:cNvPr id="23" name="Objective card 4"/>
          <p:cNvSpPr/>
          <p:nvPr/>
        </p:nvSpPr>
        <p:spPr>
          <a:xfrm>
            <a:off x="6766560" y="2468880"/>
            <a:ext cx="1920240" cy="2057400"/>
          </a:xfrm>
          <a:prstGeom prst="roundRect">
            <a:avLst>
              <a:gd name="adj" fmla="val 476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24" name="Objective icon 4 circle"/>
          <p:cNvSpPr/>
          <p:nvPr/>
        </p:nvSpPr>
        <p:spPr>
          <a:xfrm>
            <a:off x="6931152" y="26517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Objective icon 4" descr="Objective icon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742" y="2800350"/>
            <a:ext cx="297180" cy="2971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863840" y="269748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04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6931152" y="338328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Encourage regular typing practice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Technologies Used</a:t>
            </a:r>
            <a:endParaRPr lang="en-US" sz="3000" dirty="0"/>
          </a:p>
        </p:txBody>
      </p:sp>
      <p:sp>
        <p:nvSpPr>
          <p:cNvPr id="3" name="Layer Tkinter (optional)"/>
          <p:cNvSpPr/>
          <p:nvPr/>
        </p:nvSpPr>
        <p:spPr>
          <a:xfrm>
            <a:off x="457200" y="1143000"/>
            <a:ext cx="59436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4" name="Icon Tkinter (optional)" descr="Tkinter (optiona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030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0432" y="11887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Tkinter (optional)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Graphical user interface, if used in the project</a:t>
            </a:r>
            <a:endParaRPr lang="en-US" sz="1500" dirty="0"/>
          </a:p>
        </p:txBody>
      </p:sp>
      <p:sp>
        <p:nvSpPr>
          <p:cNvPr id="6" name="Layer String processing"/>
          <p:cNvSpPr/>
          <p:nvPr/>
        </p:nvSpPr>
        <p:spPr>
          <a:xfrm>
            <a:off x="457200" y="1938528"/>
            <a:ext cx="288036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pic>
        <p:nvPicPr>
          <p:cNvPr id="7" name="Icon String processing" descr="String process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12848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70432" y="198424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String processing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Compares typed text with the given text</a:t>
            </a:r>
            <a:endParaRPr lang="en-US" sz="1500" dirty="0"/>
          </a:p>
        </p:txBody>
      </p:sp>
      <p:sp>
        <p:nvSpPr>
          <p:cNvPr id="9" name="Layer Basic calculations"/>
          <p:cNvSpPr/>
          <p:nvPr/>
        </p:nvSpPr>
        <p:spPr>
          <a:xfrm>
            <a:off x="3520440" y="1938528"/>
            <a:ext cx="288036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pic>
        <p:nvPicPr>
          <p:cNvPr id="10" name="Icon Basic calculations" descr="Basic calculatio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212848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233672" y="198424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Basic calculations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Compute WPM and accuracy</a:t>
            </a:r>
            <a:endParaRPr lang="en-US" sz="1500" dirty="0"/>
          </a:p>
        </p:txBody>
      </p:sp>
      <p:sp>
        <p:nvSpPr>
          <p:cNvPr id="12" name="Layer time module"/>
          <p:cNvSpPr/>
          <p:nvPr/>
        </p:nvSpPr>
        <p:spPr>
          <a:xfrm>
            <a:off x="457200" y="2962656"/>
            <a:ext cx="594360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pic>
        <p:nvPicPr>
          <p:cNvPr id="13" name="Icon time module" descr="time modu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22676"/>
            <a:ext cx="365760" cy="3657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70432" y="3008376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time module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Tracks test duration</a:t>
            </a:r>
            <a:endParaRPr lang="en-US" sz="1500" dirty="0"/>
          </a:p>
        </p:txBody>
      </p:sp>
      <p:sp>
        <p:nvSpPr>
          <p:cNvPr id="15" name="Layer Python"/>
          <p:cNvSpPr/>
          <p:nvPr/>
        </p:nvSpPr>
        <p:spPr>
          <a:xfrm>
            <a:off x="457200" y="3758184"/>
            <a:ext cx="594360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/>
        </p:spPr>
      </p:sp>
      <p:pic>
        <p:nvPicPr>
          <p:cNvPr id="16" name="Icon Python" descr="Pyth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18204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70432" y="380390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Python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Main programming language</a:t>
            </a:r>
            <a:endParaRPr lang="en-US" sz="1500" dirty="0"/>
          </a:p>
        </p:txBody>
      </p:sp>
      <p:sp>
        <p:nvSpPr>
          <p:cNvPr id="18" name="Legend card"/>
          <p:cNvSpPr/>
          <p:nvPr/>
        </p:nvSpPr>
        <p:spPr>
          <a:xfrm>
            <a:off x="6583680" y="1143000"/>
            <a:ext cx="2103120" cy="3300984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676656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Legend</a:t>
            </a:r>
            <a:endParaRPr lang="en-US" sz="1600" dirty="0"/>
          </a:p>
        </p:txBody>
      </p:sp>
      <p:sp>
        <p:nvSpPr>
          <p:cNvPr id="20" name="Core swatch"/>
          <p:cNvSpPr/>
          <p:nvPr/>
        </p:nvSpPr>
        <p:spPr>
          <a:xfrm>
            <a:off x="6766560" y="1810512"/>
            <a:ext cx="320040" cy="27432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21" name="Text 14"/>
          <p:cNvSpPr txBox="1"/>
          <p:nvPr/>
        </p:nvSpPr>
        <p:spPr>
          <a:xfrm>
            <a:off x="7223760" y="17830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Core Python</a:t>
            </a:r>
            <a:endParaRPr lang="en-US" sz="1400" dirty="0"/>
          </a:p>
        </p:txBody>
      </p:sp>
      <p:sp>
        <p:nvSpPr>
          <p:cNvPr id="22" name="Optional swatch"/>
          <p:cNvSpPr/>
          <p:nvPr/>
        </p:nvSpPr>
        <p:spPr>
          <a:xfrm>
            <a:off x="6766560" y="2286000"/>
            <a:ext cx="320040" cy="274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>
            <a:solidFill>
              <a:schemeClr val="accent3"/>
            </a:solidFill>
            <a:prstDash val="dash"/>
          </a:ln>
        </p:spPr>
      </p:sp>
      <p:sp>
        <p:nvSpPr>
          <p:cNvPr id="23" name="Text 16"/>
          <p:cNvSpPr txBox="1"/>
          <p:nvPr/>
        </p:nvSpPr>
        <p:spPr>
          <a:xfrm>
            <a:off x="7223760" y="22585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Optional</a:t>
            </a:r>
            <a:endParaRPr lang="en-US" sz="1400" dirty="0"/>
          </a:p>
        </p:txBody>
      </p:sp>
      <p:sp>
        <p:nvSpPr>
          <p:cNvPr id="24" name="Legend note"/>
          <p:cNvSpPr txBox="1"/>
          <p:nvPr/>
        </p:nvSpPr>
        <p:spPr>
          <a:xfrm>
            <a:off x="6766560" y="28346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Core items use only built-in Python. Tkinter is needed only for the GUI version.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Features of the Application</a:t>
            </a:r>
            <a:endParaRPr lang="en-US" sz="3000" dirty="0"/>
          </a:p>
        </p:txBody>
      </p:sp>
      <p:sp>
        <p:nvSpPr>
          <p:cNvPr id="3" name="Check 1 circle"/>
          <p:cNvSpPr/>
          <p:nvPr/>
        </p:nvSpPr>
        <p:spPr>
          <a:xfrm>
            <a:off x="457200" y="1252728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4" name="Check 1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" y="1339596"/>
            <a:ext cx="173736" cy="1737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" y="118872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Displays a sample passage for typing</a:t>
            </a:r>
            <a:endParaRPr lang="en-US" sz="1400" dirty="0"/>
          </a:p>
        </p:txBody>
      </p:sp>
      <p:sp>
        <p:nvSpPr>
          <p:cNvPr id="6" name="Check 2 circle"/>
          <p:cNvSpPr/>
          <p:nvPr/>
        </p:nvSpPr>
        <p:spPr>
          <a:xfrm>
            <a:off x="457200" y="1801368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Check 2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" y="1888236"/>
            <a:ext cx="173736" cy="17373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73736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Starts and tracks the typing timer</a:t>
            </a:r>
            <a:endParaRPr lang="en-US" sz="1400" dirty="0"/>
          </a:p>
        </p:txBody>
      </p:sp>
      <p:sp>
        <p:nvSpPr>
          <p:cNvPr id="9" name="Check 3 circle"/>
          <p:cNvSpPr/>
          <p:nvPr/>
        </p:nvSpPr>
        <p:spPr>
          <a:xfrm>
            <a:off x="457200" y="2350008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Check 3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" y="2436876"/>
            <a:ext cx="173736" cy="17373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60120" y="228600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Calculates typing speed in WPM</a:t>
            </a:r>
            <a:endParaRPr lang="en-US" sz="1400" dirty="0"/>
          </a:p>
        </p:txBody>
      </p:sp>
      <p:sp>
        <p:nvSpPr>
          <p:cNvPr id="12" name="Check 4 circle"/>
          <p:cNvSpPr/>
          <p:nvPr/>
        </p:nvSpPr>
        <p:spPr>
          <a:xfrm>
            <a:off x="457200" y="2898648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3" name="Check 4" descr="Check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" y="2985516"/>
            <a:ext cx="173736" cy="17373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60120" y="28346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Calculates typing accuracy as a percentage</a:t>
            </a:r>
            <a:endParaRPr lang="en-US" sz="1400" dirty="0"/>
          </a:p>
        </p:txBody>
      </p:sp>
      <p:sp>
        <p:nvSpPr>
          <p:cNvPr id="15" name="Check 5 circle"/>
          <p:cNvSpPr/>
          <p:nvPr/>
        </p:nvSpPr>
        <p:spPr>
          <a:xfrm>
            <a:off x="457200" y="3447288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6" name="Check 5" descr="Check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" y="3534156"/>
            <a:ext cx="173736" cy="17373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60120" y="338328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Displays final results after typing</a:t>
            </a:r>
            <a:endParaRPr lang="en-US" sz="1400" dirty="0"/>
          </a:p>
        </p:txBody>
      </p:sp>
      <p:sp>
        <p:nvSpPr>
          <p:cNvPr id="18" name="Check 6 circle"/>
          <p:cNvSpPr/>
          <p:nvPr/>
        </p:nvSpPr>
        <p:spPr>
          <a:xfrm>
            <a:off x="457200" y="3995928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9" name="Check 6" descr="Check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" y="4082796"/>
            <a:ext cx="173736" cy="17373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60120" y="393192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Provides a restart or retry option, if implemented</a:t>
            </a:r>
            <a:endParaRPr lang="en-US" sz="1400" dirty="0"/>
          </a:p>
        </p:txBody>
      </p:sp>
      <p:sp>
        <p:nvSpPr>
          <p:cNvPr id="21" name="Dashboard card"/>
          <p:cNvSpPr/>
          <p:nvPr/>
        </p:nvSpPr>
        <p:spPr>
          <a:xfrm>
            <a:off x="4754880" y="1188720"/>
            <a:ext cx="3931920" cy="3246120"/>
          </a:xfrm>
          <a:prstGeom prst="roundRect">
            <a:avLst>
              <a:gd name="adj" fmla="val 338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22" name="Text 14"/>
          <p:cNvSpPr txBox="1"/>
          <p:nvPr/>
        </p:nvSpPr>
        <p:spPr>
          <a:xfrm>
            <a:off x="4937760" y="1325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Results Dashboard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685800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Example values</a:t>
            </a:r>
            <a:endParaRPr lang="en-US" sz="1000" dirty="0"/>
          </a:p>
        </p:txBody>
      </p:sp>
      <p:sp>
        <p:nvSpPr>
          <p:cNvPr id="24" name="Stat tile WPM"/>
          <p:cNvSpPr/>
          <p:nvPr/>
        </p:nvSpPr>
        <p:spPr>
          <a:xfrm>
            <a:off x="4937760" y="1737360"/>
            <a:ext cx="1097280" cy="11887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25" name="Text 17"/>
          <p:cNvSpPr txBox="1"/>
          <p:nvPr/>
        </p:nvSpPr>
        <p:spPr>
          <a:xfrm>
            <a:off x="4937760" y="18288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35</a:t>
            </a:r>
            <a:endParaRPr lang="en-US" sz="2800" dirty="0"/>
          </a:p>
        </p:txBody>
      </p:sp>
      <p:sp>
        <p:nvSpPr>
          <p:cNvPr id="26" name="Text 18"/>
          <p:cNvSpPr txBox="1"/>
          <p:nvPr/>
        </p:nvSpPr>
        <p:spPr>
          <a:xfrm>
            <a:off x="493776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WPM</a:t>
            </a:r>
            <a:endParaRPr lang="en-US" sz="1300" dirty="0"/>
          </a:p>
        </p:txBody>
      </p:sp>
      <p:sp>
        <p:nvSpPr>
          <p:cNvPr id="27" name="Stat tile Accuracy"/>
          <p:cNvSpPr/>
          <p:nvPr/>
        </p:nvSpPr>
        <p:spPr>
          <a:xfrm>
            <a:off x="6172200" y="1737360"/>
            <a:ext cx="1097280" cy="11887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6172200" y="18288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92%</a:t>
            </a:r>
            <a:endParaRPr lang="en-US" sz="2800" dirty="0"/>
          </a:p>
        </p:txBody>
      </p:sp>
      <p:sp>
        <p:nvSpPr>
          <p:cNvPr id="29" name="Text 21"/>
          <p:cNvSpPr txBox="1"/>
          <p:nvPr/>
        </p:nvSpPr>
        <p:spPr>
          <a:xfrm>
            <a:off x="617220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Accuracy</a:t>
            </a:r>
            <a:endParaRPr lang="en-US" sz="1300" dirty="0"/>
          </a:p>
        </p:txBody>
      </p:sp>
      <p:sp>
        <p:nvSpPr>
          <p:cNvPr id="30" name="Stat tile Time"/>
          <p:cNvSpPr/>
          <p:nvPr/>
        </p:nvSpPr>
        <p:spPr>
          <a:xfrm>
            <a:off x="7406640" y="1737360"/>
            <a:ext cx="1097280" cy="11887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7406640" y="18288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60s</a:t>
            </a:r>
            <a:endParaRPr lang="en-US" sz="2800" dirty="0"/>
          </a:p>
        </p:txBody>
      </p:sp>
      <p:sp>
        <p:nvSpPr>
          <p:cNvPr id="32" name="Text 24"/>
          <p:cNvSpPr txBox="1"/>
          <p:nvPr/>
        </p:nvSpPr>
        <p:spPr>
          <a:xfrm>
            <a:off x="740664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Time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4937760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Accuracy</a:t>
            </a:r>
            <a:endParaRPr lang="en-US" sz="1100" dirty="0"/>
          </a:p>
        </p:txBody>
      </p:sp>
      <p:sp>
        <p:nvSpPr>
          <p:cNvPr id="34" name="Bar track"/>
          <p:cNvSpPr/>
          <p:nvPr/>
        </p:nvSpPr>
        <p:spPr>
          <a:xfrm>
            <a:off x="4937760" y="3337560"/>
            <a:ext cx="3566160" cy="14630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5" name="Bar fill"/>
          <p:cNvSpPr/>
          <p:nvPr/>
        </p:nvSpPr>
        <p:spPr>
          <a:xfrm>
            <a:off x="4937760" y="3337560"/>
            <a:ext cx="3280867" cy="1463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6" name="Retry button"/>
          <p:cNvSpPr/>
          <p:nvPr/>
        </p:nvSpPr>
        <p:spPr>
          <a:xfrm>
            <a:off x="5989320" y="3749040"/>
            <a:ext cx="146304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5989320" y="3749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Try Again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4754880" y="44988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Illustrative dashboard mockup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Working Methodology and Algorithm</a:t>
            </a:r>
            <a:endParaRPr 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457200" y="1143000"/>
            <a:ext cx="150876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4" name="Step badge 1"/>
          <p:cNvSpPr/>
          <p:nvPr/>
        </p:nvSpPr>
        <p:spPr>
          <a:xfrm>
            <a:off x="566928" y="12527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00200"/>
            <a:ext cx="1289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Launch the application</a:t>
            </a:r>
            <a:endParaRPr lang="en-US" sz="1400" dirty="0"/>
          </a:p>
        </p:txBody>
      </p:sp>
      <p:sp>
        <p:nvSpPr>
          <p:cNvPr id="7" name="Step 2"/>
          <p:cNvSpPr/>
          <p:nvPr/>
        </p:nvSpPr>
        <p:spPr>
          <a:xfrm>
            <a:off x="2240280" y="1143000"/>
            <a:ext cx="150876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8" name="Step badge 2"/>
          <p:cNvSpPr/>
          <p:nvPr/>
        </p:nvSpPr>
        <p:spPr>
          <a:xfrm>
            <a:off x="2350008" y="12527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350008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350008" y="1600200"/>
            <a:ext cx="1289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Display the sample passage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4023360" y="1143000"/>
            <a:ext cx="150876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12" name="Step badge 3"/>
          <p:cNvSpPr/>
          <p:nvPr/>
        </p:nvSpPr>
        <p:spPr>
          <a:xfrm>
            <a:off x="4133088" y="12527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133088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133088" y="1600200"/>
            <a:ext cx="1289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Start the timer when typing begins</a:t>
            </a:r>
            <a:endParaRPr lang="en-US" sz="1400" dirty="0"/>
          </a:p>
        </p:txBody>
      </p:sp>
      <p:sp>
        <p:nvSpPr>
          <p:cNvPr id="15" name="Step 4"/>
          <p:cNvSpPr/>
          <p:nvPr/>
        </p:nvSpPr>
        <p:spPr>
          <a:xfrm>
            <a:off x="4023360" y="2743200"/>
            <a:ext cx="150876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16" name="Step badge 4"/>
          <p:cNvSpPr/>
          <p:nvPr/>
        </p:nvSpPr>
        <p:spPr>
          <a:xfrm>
            <a:off x="4133088" y="28529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33088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133088" y="3200400"/>
            <a:ext cx="1289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Capture the user's typed input</a:t>
            </a:r>
            <a:endParaRPr lang="en-US" sz="1400" dirty="0"/>
          </a:p>
        </p:txBody>
      </p:sp>
      <p:sp>
        <p:nvSpPr>
          <p:cNvPr id="19" name="Step 5"/>
          <p:cNvSpPr/>
          <p:nvPr/>
        </p:nvSpPr>
        <p:spPr>
          <a:xfrm>
            <a:off x="2240280" y="2743200"/>
            <a:ext cx="150876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20" name="Step badge 5"/>
          <p:cNvSpPr/>
          <p:nvPr/>
        </p:nvSpPr>
        <p:spPr>
          <a:xfrm>
            <a:off x="2350008" y="28529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350008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350008" y="3200400"/>
            <a:ext cx="1289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Calculate elapsed time, WPM and accuracy</a:t>
            </a:r>
            <a:endParaRPr lang="en-US" sz="1400" dirty="0"/>
          </a:p>
        </p:txBody>
      </p:sp>
      <p:sp>
        <p:nvSpPr>
          <p:cNvPr id="23" name="Step 6"/>
          <p:cNvSpPr/>
          <p:nvPr/>
        </p:nvSpPr>
        <p:spPr>
          <a:xfrm>
            <a:off x="457200" y="2743200"/>
            <a:ext cx="150876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24" name="Step badge 6"/>
          <p:cNvSpPr/>
          <p:nvPr/>
        </p:nvSpPr>
        <p:spPr>
          <a:xfrm>
            <a:off x="566928" y="28529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6928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3200400"/>
            <a:ext cx="1289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Display the final results</a:t>
            </a:r>
            <a:endParaRPr lang="en-US" sz="1400" dirty="0"/>
          </a:p>
        </p:txBody>
      </p:sp>
      <p:sp>
        <p:nvSpPr>
          <p:cNvPr id="27" name="Arrow 1-2"/>
          <p:cNvSpPr/>
          <p:nvPr/>
        </p:nvSpPr>
        <p:spPr>
          <a:xfrm>
            <a:off x="1984248" y="1600200"/>
            <a:ext cx="237744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8" name="Arrow 2-3"/>
          <p:cNvSpPr/>
          <p:nvPr/>
        </p:nvSpPr>
        <p:spPr>
          <a:xfrm>
            <a:off x="3767328" y="1600200"/>
            <a:ext cx="237744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9" name="Arrow 3-4"/>
          <p:cNvSpPr/>
          <p:nvPr/>
        </p:nvSpPr>
        <p:spPr>
          <a:xfrm>
            <a:off x="4640580" y="2377440"/>
            <a:ext cx="274320" cy="320040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30" name="Arrow 4-5"/>
          <p:cNvSpPr/>
          <p:nvPr/>
        </p:nvSpPr>
        <p:spPr>
          <a:xfrm>
            <a:off x="3767328" y="3200400"/>
            <a:ext cx="237744" cy="274320"/>
          </a:xfrm>
          <a:prstGeom prst="leftArrow">
            <a:avLst/>
          </a:prstGeom>
          <a:solidFill>
            <a:schemeClr val="accent3"/>
          </a:solidFill>
          <a:ln/>
        </p:spPr>
      </p:sp>
      <p:sp>
        <p:nvSpPr>
          <p:cNvPr id="31" name="Arrow 5-6"/>
          <p:cNvSpPr/>
          <p:nvPr/>
        </p:nvSpPr>
        <p:spPr>
          <a:xfrm>
            <a:off x="1984248" y="3200400"/>
            <a:ext cx="237744" cy="274320"/>
          </a:xfrm>
          <a:prstGeom prst="leftArrow">
            <a:avLst/>
          </a:prstGeom>
          <a:solidFill>
            <a:schemeClr val="accent3"/>
          </a:solidFill>
          <a:ln/>
        </p:spPr>
      </p:sp>
      <p:sp>
        <p:nvSpPr>
          <p:cNvPr id="32" name="Formula card WPM"/>
          <p:cNvSpPr/>
          <p:nvPr/>
        </p:nvSpPr>
        <p:spPr>
          <a:xfrm>
            <a:off x="5806440" y="1143000"/>
            <a:ext cx="288036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5989320" y="12344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chemeClr val="accent1"/>
                </a:solidFill>
              </a:rPr>
              <a:t>TYPING SPEED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WPM = (Number of characters typed ÷ 5) ÷ Time in minutes</a:t>
            </a:r>
            <a:endParaRPr lang="en-US" sz="1000" dirty="0"/>
          </a:p>
        </p:txBody>
      </p:sp>
      <p:sp>
        <p:nvSpPr>
          <p:cNvPr id="34" name="Formula card accuracy"/>
          <p:cNvSpPr/>
          <p:nvPr/>
        </p:nvSpPr>
        <p:spPr>
          <a:xfrm>
            <a:off x="5806440" y="2606040"/>
            <a:ext cx="288036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5989320" y="269748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chemeClr val="accent1"/>
                </a:solidFill>
              </a:rPr>
              <a:t>ACCURACY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Accuracy (%) = (Correctly typed characters ÷ Total characters typed) × 100</a:t>
            </a:r>
            <a:endParaRPr lang="en-US" sz="1000" dirty="0"/>
          </a:p>
        </p:txBody>
      </p:sp>
      <p:sp>
        <p:nvSpPr>
          <p:cNvPr id="36" name="Safety note banner"/>
          <p:cNvSpPr/>
          <p:nvPr/>
        </p:nvSpPr>
        <p:spPr>
          <a:xfrm>
            <a:off x="457200" y="4096512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37" name="Warning icon circle"/>
          <p:cNvSpPr/>
          <p:nvPr/>
        </p:nvSpPr>
        <p:spPr>
          <a:xfrm>
            <a:off x="566928" y="4178808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8" name="Warning icon" descr="Warnin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" y="4256532"/>
            <a:ext cx="155448" cy="155448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1005840" y="409651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Handle empty input and zero elapsed time safely to avoid division by zero.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Implementation and Sample Output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5029200" cy="3474720"/>
          </a:xfrm>
          <a:prstGeom prst="roundRect">
            <a:avLst>
              <a:gd name="adj" fmla="val 263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4" name="Code snippet"/>
          <p:cNvSpPr txBox="1"/>
          <p:nvPr/>
        </p:nvSpPr>
        <p:spPr>
          <a:xfrm>
            <a:off x="640080" y="12344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passage = 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"Practice makes perfect."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= time.time()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 = input(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 the passage: "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= time.time()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elapsed = end - start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minutes = elapsed / 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typed </a:t>
            </a:r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minutes &gt; 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wpm = (len(typed) / 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/ minutes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pairs = zip(typed, passage)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correct = sum(a == b </a:t>
            </a:r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b </a:t>
            </a:r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pairs)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accuracy = correct / len(typed) * 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wpm, accuracy = 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"Typing Speed: {wpm:.0f} WPM"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"Accuracy: {accuracy:.0f}%"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"Time Taken: {elapsed:.0f} seconds"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715000" y="1097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Key logic</a:t>
            </a:r>
            <a:endParaRPr lang="en-US" sz="1600" dirty="0"/>
          </a:p>
        </p:txBody>
      </p:sp>
      <p:sp>
        <p:nvSpPr>
          <p:cNvPr id="6" name="Key logic list"/>
          <p:cNvSpPr txBox="1"/>
          <p:nvPr/>
        </p:nvSpPr>
        <p:spPr>
          <a:xfrm>
            <a:off x="5715000" y="14630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Capture the user's input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Record start and end times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Calculate elapsed time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 typed and original text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Calculate and display WPM and accuracy</a:t>
            </a:r>
            <a:endParaRPr lang="en-US" sz="1400" dirty="0"/>
          </a:p>
        </p:txBody>
      </p:sp>
      <p:sp>
        <p:nvSpPr>
          <p:cNvPr id="7" name="Sample output card"/>
          <p:cNvSpPr/>
          <p:nvPr/>
        </p:nvSpPr>
        <p:spPr>
          <a:xfrm>
            <a:off x="5715000" y="3154680"/>
            <a:ext cx="2971800" cy="1417320"/>
          </a:xfrm>
          <a:prstGeom prst="roundRect">
            <a:avLst>
              <a:gd name="adj" fmla="val 645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85216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EXAMPLE OUTPUT (illustrative, not measured)</a:t>
            </a:r>
            <a:endParaRPr lang="en-US" sz="1000" dirty="0"/>
          </a:p>
        </p:txBody>
      </p:sp>
      <p:sp>
        <p:nvSpPr>
          <p:cNvPr id="9" name="Sample output text"/>
          <p:cNvSpPr txBox="1"/>
          <p:nvPr/>
        </p:nvSpPr>
        <p:spPr>
          <a:xfrm>
            <a:off x="5852160" y="3611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Typing Speed: 35 WPM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Accuracy: 92%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Taken: 60 seconds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 and Future Scope</a:t>
            </a:r>
            <a:endParaRPr lang="en-US" sz="3000" dirty="0"/>
          </a:p>
        </p:txBody>
      </p:sp>
      <p:sp>
        <p:nvSpPr>
          <p:cNvPr id="3" name="Conclusion card"/>
          <p:cNvSpPr/>
          <p:nvPr/>
        </p:nvSpPr>
        <p:spPr>
          <a:xfrm>
            <a:off x="457200" y="1097280"/>
            <a:ext cx="3566160" cy="2697480"/>
          </a:xfrm>
          <a:prstGeom prst="roundRect">
            <a:avLst>
              <a:gd name="adj" fmla="val 339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5" name="Conclusion list"/>
          <p:cNvSpPr txBox="1"/>
          <p:nvPr/>
        </p:nvSpPr>
        <p:spPr>
          <a:xfrm>
            <a:off x="640080" y="16916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Provides a simple method to evaluate typing speed and accuracy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Demonstrates Python programming, time measurement, string processing, and basic calculations</a:t>
            </a:r>
            <a:endParaRPr lang="en-US" sz="1400" dirty="0"/>
          </a:p>
        </p:txBody>
      </p:sp>
      <p:sp>
        <p:nvSpPr>
          <p:cNvPr id="6" name="Future scope card"/>
          <p:cNvSpPr/>
          <p:nvPr/>
        </p:nvSpPr>
        <p:spPr>
          <a:xfrm>
            <a:off x="4206240" y="1097280"/>
            <a:ext cx="4480560" cy="2697480"/>
          </a:xfrm>
          <a:prstGeom prst="roundRect">
            <a:avLst>
              <a:gd name="adj" fmla="val 3390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38912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Future Improvements</a:t>
            </a:r>
            <a:endParaRPr lang="en-US" sz="1800" dirty="0"/>
          </a:p>
        </p:txBody>
      </p:sp>
      <p:sp>
        <p:nvSpPr>
          <p:cNvPr id="8" name="Future icon 1 circle"/>
          <p:cNvSpPr/>
          <p:nvPr/>
        </p:nvSpPr>
        <p:spPr>
          <a:xfrm>
            <a:off x="4389120" y="169164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Future icon 1" descr="Future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6844" y="1769364"/>
            <a:ext cx="155448" cy="15544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828032" y="16916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Multiple difficulty levels</a:t>
            </a:r>
            <a:endParaRPr lang="en-US" sz="1400" dirty="0"/>
          </a:p>
        </p:txBody>
      </p:sp>
      <p:sp>
        <p:nvSpPr>
          <p:cNvPr id="11" name="Future icon 2 circle"/>
          <p:cNvSpPr/>
          <p:nvPr/>
        </p:nvSpPr>
        <p:spPr>
          <a:xfrm>
            <a:off x="4389120" y="210312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Future icon 2" descr="Future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844" y="2180844"/>
            <a:ext cx="155448" cy="1554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28032" y="21031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Personal best scores and progress history</a:t>
            </a:r>
            <a:endParaRPr lang="en-US" sz="1400" dirty="0"/>
          </a:p>
        </p:txBody>
      </p:sp>
      <p:sp>
        <p:nvSpPr>
          <p:cNvPr id="14" name="Future icon 3 circle"/>
          <p:cNvSpPr/>
          <p:nvPr/>
        </p:nvSpPr>
        <p:spPr>
          <a:xfrm>
            <a:off x="4389120" y="25146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uture icon 3" descr="Future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844" y="2592324"/>
            <a:ext cx="155448" cy="1554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28032" y="25146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User profiles and leaderboards</a:t>
            </a:r>
            <a:endParaRPr lang="en-US" sz="1400" dirty="0"/>
          </a:p>
        </p:txBody>
      </p:sp>
      <p:sp>
        <p:nvSpPr>
          <p:cNvPr id="17" name="Future icon 4 circle"/>
          <p:cNvSpPr/>
          <p:nvPr/>
        </p:nvSpPr>
        <p:spPr>
          <a:xfrm>
            <a:off x="4389120" y="292608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Future icon 4" descr="Future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844" y="3003804"/>
            <a:ext cx="155448" cy="1554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828032" y="29260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Multilingual typing tests</a:t>
            </a:r>
            <a:endParaRPr lang="en-US" sz="1400" dirty="0"/>
          </a:p>
        </p:txBody>
      </p:sp>
      <p:sp>
        <p:nvSpPr>
          <p:cNvPr id="20" name="Future icon 5 circle"/>
          <p:cNvSpPr/>
          <p:nvPr/>
        </p:nvSpPr>
        <p:spPr>
          <a:xfrm>
            <a:off x="4389120" y="33375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Future icon 5" descr="Future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6844" y="3415284"/>
            <a:ext cx="155448" cy="15544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828032" y="33375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Improved graphical interface</a:t>
            </a:r>
            <a:endParaRPr lang="en-US" sz="1400" dirty="0"/>
          </a:p>
        </p:txBody>
      </p:sp>
      <p:sp>
        <p:nvSpPr>
          <p:cNvPr id="23" name="Closing line"/>
          <p:cNvSpPr txBox="1"/>
          <p:nvPr/>
        </p:nvSpPr>
        <p:spPr>
          <a:xfrm>
            <a:off x="457200" y="4023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Thank You — Questions?</a:t>
            </a:r>
            <a:endParaRPr lang="en-US" sz="2800" dirty="0"/>
          </a:p>
        </p:txBody>
      </p:sp>
      <p:sp>
        <p:nvSpPr>
          <p:cNvPr id="24" name="Keycap Q"/>
          <p:cNvSpPr/>
          <p:nvPr/>
        </p:nvSpPr>
        <p:spPr>
          <a:xfrm>
            <a:off x="5943600" y="402336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59436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</a:t>
            </a:r>
            <a:endParaRPr lang="en-US" sz="1800" dirty="0"/>
          </a:p>
        </p:txBody>
      </p:sp>
      <p:sp>
        <p:nvSpPr>
          <p:cNvPr id="26" name="Keycap &amp;"/>
          <p:cNvSpPr/>
          <p:nvPr/>
        </p:nvSpPr>
        <p:spPr>
          <a:xfrm>
            <a:off x="6537960" y="402336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65379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&amp;</a:t>
            </a:r>
            <a:endParaRPr lang="en-US" sz="1800" dirty="0"/>
          </a:p>
        </p:txBody>
      </p:sp>
      <p:sp>
        <p:nvSpPr>
          <p:cNvPr id="28" name="Keycap A"/>
          <p:cNvSpPr/>
          <p:nvPr/>
        </p:nvSpPr>
        <p:spPr>
          <a:xfrm>
            <a:off x="7132320" y="402336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71323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30" name="Keycap Enter"/>
          <p:cNvSpPr/>
          <p:nvPr/>
        </p:nvSpPr>
        <p:spPr>
          <a:xfrm>
            <a:off x="7726680" y="4023360"/>
            <a:ext cx="9601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726680" y="40233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Enter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yping Speed Test">
  <a:themeElements>
    <a:clrScheme name="Typing Speed Test">
      <a:dk1>
        <a:srgbClr val="0B1D3A"/>
      </a:dk1>
      <a:lt1>
        <a:srgbClr val="FFFFFF"/>
      </a:lt1>
      <a:dk2>
        <a:srgbClr val="12306B"/>
      </a:dk2>
      <a:lt2>
        <a:srgbClr val="EAF2FB"/>
      </a:lt2>
      <a:accent1>
        <a:srgbClr val="22D3EE"/>
      </a:accent1>
      <a:accent2>
        <a:srgbClr val="1E4FA3"/>
      </a:accent2>
      <a:accent3>
        <a:srgbClr val="0891B2"/>
      </a:accent3>
      <a:accent4>
        <a:srgbClr val="5B7DB1"/>
      </a:accent4>
      <a:accent5>
        <a:srgbClr val="8FA6C8"/>
      </a:accent5>
      <a:accent6>
        <a:srgbClr val="7DD3FC"/>
      </a:accent6>
      <a:hlink>
        <a:srgbClr val="0891B2"/>
      </a:hlink>
      <a:folHlink>
        <a:srgbClr val="5B7DB1"/>
      </a:folHlink>
    </a:clrScheme>
    <a:fontScheme name="Typing Speed Tes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Typing Speed Test Application</dc:title>
  <dc:subject>Python Programming</dc:subject>
  <dc:creator>PptxGenJS</dc:creator>
  <cp:lastModifiedBy>PptxGenJS</cp:lastModifiedBy>
  <cp:revision>1</cp:revision>
  <dcterms:created xsi:type="dcterms:W3CDTF">2026-10-21T05:07:32Z</dcterms:created>
  <dcterms:modified xsi:type="dcterms:W3CDTF">2026-10-21T05:07:32Z</dcterms:modified>
</cp:coreProperties>
</file>